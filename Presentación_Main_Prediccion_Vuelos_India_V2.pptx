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71" r:id="rId5"/>
    <p:sldId id="273" r:id="rId6"/>
    <p:sldId id="270" r:id="rId7"/>
    <p:sldId id="268" r:id="rId8"/>
    <p:sldId id="272" r:id="rId9"/>
    <p:sldId id="264" r:id="rId10"/>
    <p:sldId id="274" r:id="rId11"/>
    <p:sldId id="265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E86"/>
    <a:srgbClr val="8EBAD9"/>
    <a:srgbClr val="92BCDA"/>
    <a:srgbClr val="8FB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54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1DEC6-6FB3-4865-A3D3-04E8FB3FD38B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41397-E74E-4E30-B70B-87886578A90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319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41397-E74E-4E30-B70B-87886578A907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9553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97D7E-D7FF-1EFB-E854-69FD2F30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E599262-8572-D700-C778-72BB0E1B3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46C98D-CCE0-077C-CFB8-610B3E60B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D5884A-2AC8-D193-3525-6EB30D6C5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341397-E74E-4E30-B70B-87886578A907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0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5D826-45E8-CE15-5243-E6AEAA6F2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E2DC4E-21EA-560A-F2F1-308B828E4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3E3D03-876C-028F-B860-FF2323E9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5D4810-4CCC-CD91-FDCB-789E5274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3B7F39-7CE4-F4DC-87C8-D412A974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454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A2D49-A780-2ECE-7667-645F1AA08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EC0B25-61B7-CA31-3CEA-1E45E71E1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36AC19-9A29-8EEC-6AD0-F4F68F24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0B3074-7A8B-B388-CBA7-9D13EEF3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6CE17F-1E3E-AAB9-8B29-7D5B3CF54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457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974EA-DAF3-ABA9-D66A-09CADDAE6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5457A4-356E-8692-020D-3EB4CB39C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7A7C9D-712E-263B-9F45-C42955B0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C24CA9-2C20-C58D-D89C-A1F77AFB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E038CD-398C-9144-60B1-96481CF45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45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1BAB7-B1FF-3E9D-20CD-6EFA002F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DCFC99-AA53-79C8-5774-C60BDFD88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469819-12B9-A1DE-213A-1032E6AD3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93F37B-A002-E850-4925-46304EB6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FECA42-15E8-418E-83F7-33263DB85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371BC9-0547-9C2F-61AD-4F9C5F72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33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428E2-281C-FB14-441F-4C927DBB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FA8432-B6A5-CDFD-EF2E-552AFBD86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BF655A-CD24-AE7B-D65B-E37CEFD4A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0079AC-3BE6-713B-5E58-B970C3632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2DB786B-9117-29A1-DC7B-FFB9257E2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396EEB-6F7A-BAEA-DF08-44B03E44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89BB74-77AF-8097-6104-BF6086F7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4512F7-0841-8FA4-2CCE-8261412D4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973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48153-6734-AA12-A705-25A28237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EF94C8-F77C-E2E7-F3EB-569F49E0C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A36ED7-8E14-0069-20D6-57BE12C8D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795C56-077B-B5A5-B067-6EE0C636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18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78349E-6EF0-BBCE-74A8-5CDDD44BD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C290A6-2F4E-C116-E3F1-AF9ADC6F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62E9B5-A607-0D2C-09B5-11A53441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3476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09AAD-0C51-9F17-8FEF-90477B261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9A1FA-64C5-7FAA-728C-2D7B01E6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D352C4-DD61-A0F6-27BD-D9560D7C2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6ECD66-20F8-1C58-19BE-10BA5282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49587E-8944-AE4F-C539-E682B4635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2AC1EA-6917-5E5B-486C-884F7298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09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66615-3DD5-23A5-9BF3-D6ED0B69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CC60EA-DFE1-9841-CDA7-A7EC2B70B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2CE81E-A1DD-20D9-7AD4-EA6E9F359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D4A77B-DA7B-9912-723B-18CFEFBED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1A8A8F-C1E6-81C9-A914-EA7F3A16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74590B-2B73-F8C0-E109-E5C42F3B3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773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798E6-09B6-ECF1-56D7-6CC93585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CA8F3A6-9AC0-568B-2848-7B5FAE527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79566F-B5F8-6985-643A-67448D486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DAF5E1-D3A7-3164-DA62-21576EDB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49CF6A-CC7C-4766-E269-021A286F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59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CE0B55-A7E1-0481-7136-85442D0AD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308D12-EEE3-7508-C45F-68F6ACC71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868F6E-A337-DA82-8839-F494670D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7C0AD4-0E05-88A3-F453-6CCA221F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DEFFB3-2990-FFDA-FD57-D1F6935F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443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BD1EB73-B199-9E50-FE5E-B6F7D609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20AD43-B961-1C81-3501-2999EE6A4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5BB009-86B8-4FB9-37A0-EBA4EBC7C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01304-8143-450A-BAF5-B749BBEA05A9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26629C-7440-BE21-ED4B-D7FEB7EC3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0EC00A-C5E0-6E8E-1433-D78C88BA6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4EDA74-04E0-45E9-987C-F769DCBFA5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931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89E07CE-3C2C-EE3C-A181-315BCF46D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65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572FCFC-EE3B-4268-B033-EF3A6B3478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3863" y="1452834"/>
            <a:ext cx="686687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Agencia especializada en vuelos nacionales dentro de India.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Mercado altamente dinámico con precios que cambian según aerolínea, duración, escalas y antelación de compra.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Necesidad de entender cómo evolucionan los precios para mejorar la toma de decisiones</a:t>
            </a:r>
            <a:r>
              <a:rPr lang="es-ES" altLang="es-ES" sz="2000" dirty="0">
                <a:latin typeface="Arial" panose="020B0604020202020204" pitchFamily="34" charset="0"/>
              </a:rPr>
              <a:t> para nuestros clientes.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F1E2AD6-386E-492D-7C29-C62C6825A547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6602C00-8FA4-A997-A847-3F5DC31C436A}"/>
              </a:ext>
            </a:extLst>
          </p:cNvPr>
          <p:cNvSpPr txBox="1"/>
          <p:nvPr/>
        </p:nvSpPr>
        <p:spPr>
          <a:xfrm>
            <a:off x="540000" y="183168"/>
            <a:ext cx="920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negocio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4DBCC2F-B8AE-0E3C-1E94-170348BBC7E5}"/>
              </a:ext>
            </a:extLst>
          </p:cNvPr>
          <p:cNvCxnSpPr>
            <a:cxnSpLocks/>
          </p:cNvCxnSpPr>
          <p:nvPr/>
        </p:nvCxnSpPr>
        <p:spPr>
          <a:xfrm>
            <a:off x="149723" y="6572250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5F678C0-3144-D930-277D-36300C24E12B}"/>
              </a:ext>
            </a:extLst>
          </p:cNvPr>
          <p:cNvCxnSpPr>
            <a:cxnSpLocks/>
          </p:cNvCxnSpPr>
          <p:nvPr/>
        </p:nvCxnSpPr>
        <p:spPr>
          <a:xfrm>
            <a:off x="149723" y="6630866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F9144DF3-44BA-4C8F-D5C0-4CABA463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863" y="4153278"/>
            <a:ext cx="4451218" cy="828000"/>
          </a:xfrm>
        </p:spPr>
        <p:txBody>
          <a:bodyPr/>
          <a:lstStyle/>
          <a:p>
            <a:r>
              <a:rPr lang="es-ES" dirty="0"/>
              <a:t>Datos disponibles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3A75B15-AADC-B946-3D95-F8CDBA7BD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63" y="5097191"/>
            <a:ext cx="1042720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s-ES" altLang="es-ES" sz="2000" dirty="0">
                <a:latin typeface="Arial" panose="020B0604020202020204" pitchFamily="34" charset="0"/>
              </a:rPr>
              <a:t>Contamos con datos de un web </a:t>
            </a:r>
            <a:r>
              <a:rPr lang="es-ES" altLang="es-ES" sz="2000" dirty="0" err="1">
                <a:latin typeface="Arial" panose="020B0604020202020204" pitchFamily="34" charset="0"/>
              </a:rPr>
              <a:t>scrapping</a:t>
            </a:r>
            <a:r>
              <a:rPr lang="es-ES" altLang="es-ES" sz="2000" dirty="0">
                <a:latin typeface="Arial" panose="020B0604020202020204" pitchFamily="34" charset="0"/>
              </a:rPr>
              <a:t> del 10 de febrero y va desde el 11 de febrero al 31 de marzo las búsquedas. Por lo que no recogemos estacionalidades.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C859519-3018-6CDF-0542-FD610FC33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58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82982-075B-01B8-8D2E-4682D7C6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B07C5D-B522-F54C-F13C-81F57A374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26" y="-1210621"/>
            <a:ext cx="10515600" cy="121062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ES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BBD59A8-496D-5B9F-ACA3-E3D23B5F5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700999"/>
              </p:ext>
            </p:extLst>
          </p:nvPr>
        </p:nvGraphicFramePr>
        <p:xfrm>
          <a:off x="765619" y="1005902"/>
          <a:ext cx="9770453" cy="473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8662">
                  <a:extLst>
                    <a:ext uri="{9D8B030D-6E8A-4147-A177-3AD203B41FA5}">
                      <a16:colId xmlns:a16="http://schemas.microsoft.com/office/drawing/2014/main" val="832424236"/>
                    </a:ext>
                  </a:extLst>
                </a:gridCol>
                <a:gridCol w="2224473">
                  <a:extLst>
                    <a:ext uri="{9D8B030D-6E8A-4147-A177-3AD203B41FA5}">
                      <a16:colId xmlns:a16="http://schemas.microsoft.com/office/drawing/2014/main" val="3887554724"/>
                    </a:ext>
                  </a:extLst>
                </a:gridCol>
                <a:gridCol w="2768155">
                  <a:extLst>
                    <a:ext uri="{9D8B030D-6E8A-4147-A177-3AD203B41FA5}">
                      <a16:colId xmlns:a16="http://schemas.microsoft.com/office/drawing/2014/main" val="4102236331"/>
                    </a:ext>
                  </a:extLst>
                </a:gridCol>
                <a:gridCol w="1799163">
                  <a:extLst>
                    <a:ext uri="{9D8B030D-6E8A-4147-A177-3AD203B41FA5}">
                      <a16:colId xmlns:a16="http://schemas.microsoft.com/office/drawing/2014/main" val="26362341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2200" b="1" dirty="0" err="1">
                          <a:solidFill>
                            <a:srgbClr val="0070C0"/>
                          </a:solidFill>
                        </a:rPr>
                        <a:t>Transformer</a:t>
                      </a:r>
                      <a:endParaRPr lang="es-ES" sz="2200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200" b="1" dirty="0">
                          <a:solidFill>
                            <a:srgbClr val="0070C0"/>
                          </a:solidFill>
                        </a:rPr>
                        <a:t>Variable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200" b="1" dirty="0">
                          <a:solidFill>
                            <a:srgbClr val="0070C0"/>
                          </a:solidFill>
                        </a:rPr>
                        <a:t>Función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200" b="1" dirty="0">
                          <a:solidFill>
                            <a:srgbClr val="0070C0"/>
                          </a:solidFill>
                        </a:rPr>
                        <a:t>Variable final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27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>
                          <a:solidFill>
                            <a:srgbClr val="00B0F0"/>
                          </a:solidFill>
                        </a:rPr>
                        <a:t>1 </a:t>
                      </a:r>
                      <a:r>
                        <a:rPr lang="es-E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DurationTransformer</a:t>
                      </a:r>
                      <a:endParaRPr lang="es-E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E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time_taken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convertir duración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“</a:t>
                      </a:r>
                      <a:r>
                        <a:rPr lang="es-ES" dirty="0" err="1"/>
                        <a:t>duration</a:t>
                      </a:r>
                      <a:r>
                        <a:rPr lang="es-ES" dirty="0"/>
                        <a:t>(h)”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585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>
                          <a:solidFill>
                            <a:srgbClr val="00B0F0"/>
                          </a:solidFill>
                        </a:rPr>
                        <a:t>2 </a:t>
                      </a:r>
                      <a:r>
                        <a:rPr lang="es-E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TimeCategoryTransformer</a:t>
                      </a:r>
                      <a:endParaRPr lang="es-E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E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dep_time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arr_time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Categorizar horas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dep_time_cat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arr_time_cat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2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>
                          <a:solidFill>
                            <a:srgbClr val="00B0F0"/>
                          </a:solidFill>
                        </a:rPr>
                        <a:t>3 </a:t>
                      </a:r>
                      <a:r>
                        <a:rPr lang="es-E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StopCleaner</a:t>
                      </a:r>
                      <a:endParaRPr lang="es-E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"stop"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Extraer </a:t>
                      </a:r>
                      <a:r>
                        <a:rPr lang="es-ES" dirty="0" err="1"/>
                        <a:t>nº</a:t>
                      </a:r>
                      <a:r>
                        <a:rPr lang="es-ES" dirty="0"/>
                        <a:t> escalas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stop_num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794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>
                          <a:solidFill>
                            <a:srgbClr val="00B0F0"/>
                          </a:solidFill>
                        </a:rPr>
                        <a:t>4 </a:t>
                      </a:r>
                      <a:r>
                        <a:rPr lang="es-E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DaysLeftTransformer</a:t>
                      </a:r>
                      <a:endParaRPr lang="es-E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"date"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Calcular días restantes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days_left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57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>
                          <a:solidFill>
                            <a:srgbClr val="00B0F0"/>
                          </a:solidFill>
                        </a:rPr>
                        <a:t>5 </a:t>
                      </a:r>
                      <a:r>
                        <a:rPr lang="es-E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ColumnDropper</a:t>
                      </a:r>
                      <a:endParaRPr lang="es-E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E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“</a:t>
                      </a:r>
                      <a:r>
                        <a:rPr lang="es-ES" dirty="0" err="1"/>
                        <a:t>cols_to_drop</a:t>
                      </a:r>
                      <a:r>
                        <a:rPr lang="es-ES" dirty="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Eliminar columnas irrelevantes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n.a</a:t>
                      </a:r>
                      <a:r>
                        <a:rPr lang="es-E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74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>
                          <a:solidFill>
                            <a:srgbClr val="00B0F0"/>
                          </a:solidFill>
                        </a:rPr>
                        <a:t>6 </a:t>
                      </a:r>
                      <a:r>
                        <a:rPr lang="es-E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PriceToFloat</a:t>
                      </a:r>
                      <a:endParaRPr lang="es-E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E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 algn="l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convertir </a:t>
                      </a:r>
                      <a:r>
                        <a:rPr lang="es-ES" dirty="0" err="1"/>
                        <a:t>price</a:t>
                      </a:r>
                      <a:r>
                        <a:rPr lang="es-ES" dirty="0"/>
                        <a:t> a </a:t>
                      </a:r>
                      <a:r>
                        <a:rPr lang="es-ES" dirty="0" err="1"/>
                        <a:t>float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073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>
                          <a:solidFill>
                            <a:srgbClr val="00B0F0"/>
                          </a:solidFill>
                        </a:rPr>
                        <a:t>7 </a:t>
                      </a:r>
                      <a:r>
                        <a:rPr lang="es-E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AirlineGrouper</a:t>
                      </a:r>
                      <a:endParaRPr lang="es-E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ES" b="1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airline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 algn="l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Agrupar las aerolíneas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airline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30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>
                          <a:solidFill>
                            <a:srgbClr val="00B0F0"/>
                          </a:solidFill>
                        </a:rPr>
                        <a:t>8 </a:t>
                      </a:r>
                      <a:r>
                        <a:rPr lang="es-ES" sz="18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DropDuplicates</a:t>
                      </a:r>
                      <a:endParaRPr lang="es-E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dirty="0" err="1"/>
                        <a:t>n.a</a:t>
                      </a:r>
                      <a:r>
                        <a:rPr lang="es-E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Eliminar los duplicados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n.a</a:t>
                      </a:r>
                      <a:r>
                        <a:rPr lang="es-E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261108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D997B5C-A289-2F7F-F631-418A305E826C}"/>
              </a:ext>
            </a:extLst>
          </p:cNvPr>
          <p:cNvSpPr txBox="1"/>
          <p:nvPr/>
        </p:nvSpPr>
        <p:spPr>
          <a:xfrm>
            <a:off x="8689150" y="6021545"/>
            <a:ext cx="171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*</a:t>
            </a:r>
            <a:r>
              <a:rPr lang="es-ES" dirty="0" err="1"/>
              <a:t>n.a</a:t>
            </a:r>
            <a:r>
              <a:rPr lang="es-ES" dirty="0"/>
              <a:t>. = no aplica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C31B0C1-F217-ED34-44BF-5DAEE9691A9F}"/>
              </a:ext>
            </a:extLst>
          </p:cNvPr>
          <p:cNvCxnSpPr>
            <a:cxnSpLocks/>
          </p:cNvCxnSpPr>
          <p:nvPr/>
        </p:nvCxnSpPr>
        <p:spPr>
          <a:xfrm>
            <a:off x="149723" y="6572250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30DF131-FB08-043D-434E-2B13C4FEB6A0}"/>
              </a:ext>
            </a:extLst>
          </p:cNvPr>
          <p:cNvCxnSpPr>
            <a:cxnSpLocks/>
          </p:cNvCxnSpPr>
          <p:nvPr/>
        </p:nvCxnSpPr>
        <p:spPr>
          <a:xfrm>
            <a:off x="149723" y="6630866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FF5DC576-7B4D-A904-9BF2-F8952145867D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4921C05-43DB-CEA2-65F7-CF5414260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3DB4746-F3D8-52A6-1663-47D337E81A8A}"/>
              </a:ext>
            </a:extLst>
          </p:cNvPr>
          <p:cNvSpPr txBox="1"/>
          <p:nvPr/>
        </p:nvSpPr>
        <p:spPr>
          <a:xfrm>
            <a:off x="540000" y="183168"/>
            <a:ext cx="920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Limpieza y transformación de datos (ETL)</a:t>
            </a:r>
          </a:p>
        </p:txBody>
      </p:sp>
    </p:spTree>
    <p:extLst>
      <p:ext uri="{BB962C8B-B14F-4D97-AF65-F5344CB8AC3E}">
        <p14:creationId xmlns:p14="http://schemas.microsoft.com/office/powerpoint/2010/main" val="3645655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E38A0-DCA7-E4CA-0482-D459135FE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AA8EAA-0CDA-1B43-3F93-35FC49F90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66" y="1129848"/>
            <a:ext cx="10936803" cy="829971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200" dirty="0">
                <a:solidFill>
                  <a:srgbClr val="0070C0"/>
                </a:solidFill>
              </a:rPr>
              <a:t>Distribución de precios significativamente diferente… </a:t>
            </a:r>
            <a:r>
              <a:rPr lang="es-ES" sz="2200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es-ES" sz="2200" dirty="0">
                <a:solidFill>
                  <a:srgbClr val="0070C0"/>
                </a:solidFill>
                <a:sym typeface="Wingdings" panose="05000000000000000000" pitchFamily="2" charset="2"/>
              </a:rPr>
              <a:t>… decidimos desarrollar 2 modelos en lugar de 1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AF2012C-42F0-16CD-790C-DAD2009EF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84" y="2152684"/>
            <a:ext cx="9187715" cy="4320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E614F3E-56D0-3AA3-83AA-DC31B7233037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FD46836-091B-97FF-83EA-F5717DDBF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699BEDF4-5655-CBF1-9BFE-4824877BBCB9}"/>
              </a:ext>
            </a:extLst>
          </p:cNvPr>
          <p:cNvSpPr txBox="1"/>
          <p:nvPr/>
        </p:nvSpPr>
        <p:spPr>
          <a:xfrm>
            <a:off x="540000" y="183168"/>
            <a:ext cx="920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Análisis del target (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287B28E-DADB-15F7-FB42-17625E4F1C20}"/>
              </a:ext>
            </a:extLst>
          </p:cNvPr>
          <p:cNvCxnSpPr>
            <a:cxnSpLocks/>
          </p:cNvCxnSpPr>
          <p:nvPr/>
        </p:nvCxnSpPr>
        <p:spPr>
          <a:xfrm flipH="1">
            <a:off x="3302758" y="4371975"/>
            <a:ext cx="431042" cy="704992"/>
          </a:xfrm>
          <a:prstGeom prst="straightConnector1">
            <a:avLst/>
          </a:prstGeom>
          <a:ln w="22225">
            <a:solidFill>
              <a:srgbClr val="8FBBDB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9221ECC-1C6B-C2EE-9F9F-C7C4A56E841F}"/>
              </a:ext>
            </a:extLst>
          </p:cNvPr>
          <p:cNvSpPr txBox="1"/>
          <p:nvPr/>
        </p:nvSpPr>
        <p:spPr>
          <a:xfrm>
            <a:off x="2915948" y="3906211"/>
            <a:ext cx="184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8EBAD9"/>
                </a:solidFill>
              </a:rPr>
              <a:t>Modelo </a:t>
            </a:r>
            <a:r>
              <a:rPr lang="es-ES" b="1" dirty="0" err="1">
                <a:solidFill>
                  <a:srgbClr val="8EBAD9"/>
                </a:solidFill>
              </a:rPr>
              <a:t>Economy</a:t>
            </a:r>
            <a:endParaRPr lang="es-ES" b="1" dirty="0">
              <a:solidFill>
                <a:srgbClr val="8EBAD9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BF270EA2-FC6D-FC21-3CD6-866D75BF0A1F}"/>
              </a:ext>
            </a:extLst>
          </p:cNvPr>
          <p:cNvCxnSpPr>
            <a:cxnSpLocks/>
          </p:cNvCxnSpPr>
          <p:nvPr/>
        </p:nvCxnSpPr>
        <p:spPr>
          <a:xfrm flipH="1">
            <a:off x="6506386" y="4500312"/>
            <a:ext cx="431042" cy="704992"/>
          </a:xfrm>
          <a:prstGeom prst="straightConnector1">
            <a:avLst/>
          </a:prstGeom>
          <a:ln w="22225">
            <a:solidFill>
              <a:srgbClr val="FFBE86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37709D7-3567-4CF1-832B-9E1AF63D33A6}"/>
              </a:ext>
            </a:extLst>
          </p:cNvPr>
          <p:cNvSpPr txBox="1"/>
          <p:nvPr/>
        </p:nvSpPr>
        <p:spPr>
          <a:xfrm>
            <a:off x="6295967" y="4051089"/>
            <a:ext cx="1803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FFBE86"/>
                </a:solidFill>
              </a:rPr>
              <a:t>Modelo Business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B3FC8236-8E23-2076-F430-CF92F5F60127}"/>
              </a:ext>
            </a:extLst>
          </p:cNvPr>
          <p:cNvCxnSpPr>
            <a:cxnSpLocks/>
          </p:cNvCxnSpPr>
          <p:nvPr/>
        </p:nvCxnSpPr>
        <p:spPr>
          <a:xfrm>
            <a:off x="149723" y="6572250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6578932-FB95-E96E-248A-D899E3834917}"/>
              </a:ext>
            </a:extLst>
          </p:cNvPr>
          <p:cNvCxnSpPr>
            <a:cxnSpLocks/>
          </p:cNvCxnSpPr>
          <p:nvPr/>
        </p:nvCxnSpPr>
        <p:spPr>
          <a:xfrm>
            <a:off x="149723" y="6630866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79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73CEA-2D63-5980-C9D4-01183A22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48E14F-8BD2-706A-C931-0F69184E2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609" y="1336095"/>
            <a:ext cx="5543107" cy="674031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ES" sz="2200" dirty="0"/>
              <a:t> </a:t>
            </a:r>
            <a:r>
              <a:rPr lang="es-ES" sz="2200" b="1" dirty="0">
                <a:solidFill>
                  <a:srgbClr val="002060"/>
                </a:solidFill>
              </a:rPr>
              <a:t>Test estadístico ANOVA </a:t>
            </a:r>
            <a:br>
              <a:rPr lang="es-ES" sz="2200" dirty="0"/>
            </a:br>
            <a:r>
              <a:rPr lang="es-ES" sz="2000" dirty="0"/>
              <a:t>(relación target-categóricas)</a:t>
            </a:r>
            <a:endParaRPr lang="es-ES" sz="220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592D259-80B2-0D13-AA2E-2081F28FF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333000"/>
              </p:ext>
            </p:extLst>
          </p:nvPr>
        </p:nvGraphicFramePr>
        <p:xfrm>
          <a:off x="933734" y="2179158"/>
          <a:ext cx="4105951" cy="25778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1579">
                  <a:extLst>
                    <a:ext uri="{9D8B030D-6E8A-4147-A177-3AD203B41FA5}">
                      <a16:colId xmlns:a16="http://schemas.microsoft.com/office/drawing/2014/main" val="408743675"/>
                    </a:ext>
                  </a:extLst>
                </a:gridCol>
                <a:gridCol w="1108393">
                  <a:extLst>
                    <a:ext uri="{9D8B030D-6E8A-4147-A177-3AD203B41FA5}">
                      <a16:colId xmlns:a16="http://schemas.microsoft.com/office/drawing/2014/main" val="2501879913"/>
                    </a:ext>
                  </a:extLst>
                </a:gridCol>
                <a:gridCol w="1285979">
                  <a:extLst>
                    <a:ext uri="{9D8B030D-6E8A-4147-A177-3AD203B41FA5}">
                      <a16:colId xmlns:a16="http://schemas.microsoft.com/office/drawing/2014/main" val="1800449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Variable 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P-</a:t>
                      </a:r>
                      <a:r>
                        <a:rPr lang="es-ES" b="1" dirty="0" err="1">
                          <a:solidFill>
                            <a:schemeClr val="bg1"/>
                          </a:solidFill>
                        </a:rPr>
                        <a:t>value</a:t>
                      </a:r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s-E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(p &lt; 0,05)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Selección</a:t>
                      </a:r>
                      <a:br>
                        <a:rPr lang="es-E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(si/no)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49433"/>
                  </a:ext>
                </a:extLst>
              </a:tr>
              <a:tr h="454447">
                <a:tc>
                  <a:txBody>
                    <a:bodyPr/>
                    <a:lstStyle/>
                    <a:p>
                      <a:r>
                        <a:rPr lang="es-ES" dirty="0"/>
                        <a:t>“</a:t>
                      </a:r>
                      <a:r>
                        <a:rPr lang="es-ES" dirty="0" err="1"/>
                        <a:t>Airline</a:t>
                      </a:r>
                      <a:r>
                        <a:rPr lang="es-ES" dirty="0"/>
                        <a:t>”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58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“</a:t>
                      </a:r>
                      <a:r>
                        <a:rPr lang="es-ES" dirty="0" err="1"/>
                        <a:t>From</a:t>
                      </a:r>
                      <a:r>
                        <a:rPr lang="es-ES" dirty="0"/>
                        <a:t>”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727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“</a:t>
                      </a:r>
                      <a:r>
                        <a:rPr lang="es-ES" dirty="0" err="1"/>
                        <a:t>To</a:t>
                      </a:r>
                      <a:r>
                        <a:rPr lang="es-ES" dirty="0"/>
                        <a:t>”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972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“</a:t>
                      </a:r>
                      <a:r>
                        <a:rPr lang="es-ES" dirty="0" err="1"/>
                        <a:t>dep_time_cat</a:t>
                      </a:r>
                      <a:r>
                        <a:rPr lang="es-ES" dirty="0"/>
                        <a:t>”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1,65 e</a:t>
                      </a:r>
                      <a:r>
                        <a:rPr lang="es-ES" baseline="30000" dirty="0"/>
                        <a:t>-60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01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“</a:t>
                      </a:r>
                      <a:r>
                        <a:rPr lang="es-ES" dirty="0" err="1"/>
                        <a:t>arr_time_cat</a:t>
                      </a:r>
                      <a:r>
                        <a:rPr lang="es-ES" dirty="0"/>
                        <a:t>”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539363"/>
                  </a:ext>
                </a:extLst>
              </a:tr>
            </a:tbl>
          </a:graphicData>
        </a:graphic>
      </p:graphicFrame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F0BDF0A-35BB-422A-E896-58E41FBE814A}"/>
              </a:ext>
            </a:extLst>
          </p:cNvPr>
          <p:cNvSpPr txBox="1">
            <a:spLocks/>
          </p:cNvSpPr>
          <p:nvPr/>
        </p:nvSpPr>
        <p:spPr>
          <a:xfrm>
            <a:off x="6330657" y="1336095"/>
            <a:ext cx="4642140" cy="6740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s-ES" sz="2200" b="1" dirty="0">
                <a:solidFill>
                  <a:srgbClr val="002060"/>
                </a:solidFill>
              </a:rPr>
              <a:t> Matriz de correlación </a:t>
            </a:r>
            <a:br>
              <a:rPr lang="es-ES" sz="2200" dirty="0"/>
            </a:br>
            <a:r>
              <a:rPr lang="es-ES" sz="2000" dirty="0"/>
              <a:t>(relación lineal variables numéricas)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1FA17B0-7FE8-520F-3A25-B92A301F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2"/>
          <a:stretch>
            <a:fillRect/>
          </a:stretch>
        </p:blipFill>
        <p:spPr>
          <a:xfrm>
            <a:off x="6330650" y="2122008"/>
            <a:ext cx="5097021" cy="381600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A93BC8BD-0E24-5426-9E77-CFB749DB011A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89C68AD-65F0-6882-1B96-37176D23E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4AF65FA-B1A6-8CBA-4760-495DE88CB4F5}"/>
              </a:ext>
            </a:extLst>
          </p:cNvPr>
          <p:cNvSpPr txBox="1"/>
          <p:nvPr/>
        </p:nvSpPr>
        <p:spPr>
          <a:xfrm>
            <a:off x="540000" y="183168"/>
            <a:ext cx="920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Selección de </a:t>
            </a:r>
            <a:r>
              <a:rPr lang="es-ES" sz="28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es-ES" sz="2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economy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EA83D77-ADFA-7349-1AF7-36032FABF3AF}"/>
              </a:ext>
            </a:extLst>
          </p:cNvPr>
          <p:cNvSpPr txBox="1"/>
          <p:nvPr/>
        </p:nvSpPr>
        <p:spPr>
          <a:xfrm>
            <a:off x="6629400" y="3505977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MI: 2.23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6D8C77A-7D06-609D-06C3-520E31C0F3D4}"/>
              </a:ext>
            </a:extLst>
          </p:cNvPr>
          <p:cNvSpPr txBox="1"/>
          <p:nvPr/>
        </p:nvSpPr>
        <p:spPr>
          <a:xfrm>
            <a:off x="6619874" y="4391693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MI: 0.40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7665260-10D3-DD0D-619C-3BC3BD25B943}"/>
              </a:ext>
            </a:extLst>
          </p:cNvPr>
          <p:cNvSpPr txBox="1"/>
          <p:nvPr/>
        </p:nvSpPr>
        <p:spPr>
          <a:xfrm>
            <a:off x="6619873" y="526271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MI: 0.64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0B1C21A-27E7-DA60-815C-4F8D188C40C2}"/>
              </a:ext>
            </a:extLst>
          </p:cNvPr>
          <p:cNvSpPr txBox="1"/>
          <p:nvPr/>
        </p:nvSpPr>
        <p:spPr>
          <a:xfrm>
            <a:off x="6629400" y="5918299"/>
            <a:ext cx="2452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MI: Mutual </a:t>
            </a:r>
            <a:r>
              <a:rPr lang="es-ES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</a:t>
            </a:r>
            <a:endParaRPr lang="es-E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20CCC2F5-054A-C45E-DC3D-215DDA5A5402}"/>
              </a:ext>
            </a:extLst>
          </p:cNvPr>
          <p:cNvCxnSpPr>
            <a:cxnSpLocks/>
          </p:cNvCxnSpPr>
          <p:nvPr/>
        </p:nvCxnSpPr>
        <p:spPr>
          <a:xfrm>
            <a:off x="149723" y="6572250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AF7304CF-7AC3-B6D3-FFE8-DF3A5E11FE69}"/>
              </a:ext>
            </a:extLst>
          </p:cNvPr>
          <p:cNvCxnSpPr>
            <a:cxnSpLocks/>
          </p:cNvCxnSpPr>
          <p:nvPr/>
        </p:nvCxnSpPr>
        <p:spPr>
          <a:xfrm>
            <a:off x="149723" y="6630866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71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26787-ECCE-FD23-435C-1B7E0B357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E758CF6-514A-5F80-997A-1BB74DD4E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80"/>
          <a:stretch>
            <a:fillRect/>
          </a:stretch>
        </p:blipFill>
        <p:spPr>
          <a:xfrm>
            <a:off x="6330657" y="2159449"/>
            <a:ext cx="5044541" cy="381600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3BBB77E9-FFBC-41D7-95A6-D6134AB45AAA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7A717B7-09EF-EC03-98B0-F1B23113C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5B41B0C1-2557-A15B-E423-9051A5D87965}"/>
              </a:ext>
            </a:extLst>
          </p:cNvPr>
          <p:cNvSpPr txBox="1"/>
          <p:nvPr/>
        </p:nvSpPr>
        <p:spPr>
          <a:xfrm>
            <a:off x="540000" y="183168"/>
            <a:ext cx="920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Selección de </a:t>
            </a:r>
            <a:r>
              <a:rPr lang="es-ES" sz="28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es-ES" sz="2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B79F861B-08FB-69A1-50E1-CA4A20B86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609" y="1336095"/>
            <a:ext cx="5543107" cy="674031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ES" sz="2200" dirty="0"/>
              <a:t> </a:t>
            </a:r>
            <a:r>
              <a:rPr lang="es-ES" sz="2200" b="1" dirty="0">
                <a:solidFill>
                  <a:srgbClr val="002060"/>
                </a:solidFill>
              </a:rPr>
              <a:t>Test estadístico ANOVA </a:t>
            </a:r>
            <a:br>
              <a:rPr lang="es-ES" sz="2200" dirty="0"/>
            </a:br>
            <a:r>
              <a:rPr lang="es-ES" sz="2000" dirty="0"/>
              <a:t>(relación target-categóricas)</a:t>
            </a:r>
            <a:endParaRPr lang="es-ES" sz="2200" dirty="0"/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575C8CF0-0159-7ED9-1711-97AD84BCFD52}"/>
              </a:ext>
            </a:extLst>
          </p:cNvPr>
          <p:cNvSpPr txBox="1">
            <a:spLocks/>
          </p:cNvSpPr>
          <p:nvPr/>
        </p:nvSpPr>
        <p:spPr>
          <a:xfrm>
            <a:off x="6330657" y="1336095"/>
            <a:ext cx="4642140" cy="6740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s-ES" sz="2200" b="1" dirty="0">
                <a:solidFill>
                  <a:srgbClr val="002060"/>
                </a:solidFill>
              </a:rPr>
              <a:t> Matriz de correlación </a:t>
            </a:r>
            <a:br>
              <a:rPr lang="es-ES" sz="2200" dirty="0"/>
            </a:br>
            <a:r>
              <a:rPr lang="es-ES" sz="2000" dirty="0"/>
              <a:t>(relación lineal variables numéricas)</a:t>
            </a:r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77065718-4FE9-18B3-8940-67F226C53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879357"/>
              </p:ext>
            </p:extLst>
          </p:nvPr>
        </p:nvGraphicFramePr>
        <p:xfrm>
          <a:off x="933734" y="2179158"/>
          <a:ext cx="4105951" cy="25778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1579">
                  <a:extLst>
                    <a:ext uri="{9D8B030D-6E8A-4147-A177-3AD203B41FA5}">
                      <a16:colId xmlns:a16="http://schemas.microsoft.com/office/drawing/2014/main" val="408743675"/>
                    </a:ext>
                  </a:extLst>
                </a:gridCol>
                <a:gridCol w="1108393">
                  <a:extLst>
                    <a:ext uri="{9D8B030D-6E8A-4147-A177-3AD203B41FA5}">
                      <a16:colId xmlns:a16="http://schemas.microsoft.com/office/drawing/2014/main" val="2501879913"/>
                    </a:ext>
                  </a:extLst>
                </a:gridCol>
                <a:gridCol w="1285979">
                  <a:extLst>
                    <a:ext uri="{9D8B030D-6E8A-4147-A177-3AD203B41FA5}">
                      <a16:colId xmlns:a16="http://schemas.microsoft.com/office/drawing/2014/main" val="1800449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Variable 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P-</a:t>
                      </a:r>
                      <a:r>
                        <a:rPr lang="es-ES" b="1" dirty="0" err="1">
                          <a:solidFill>
                            <a:schemeClr val="bg1"/>
                          </a:solidFill>
                        </a:rPr>
                        <a:t>value</a:t>
                      </a:r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es-E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(p &lt; 0,05)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Selección</a:t>
                      </a:r>
                      <a:br>
                        <a:rPr lang="es-ES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s-ES" b="1" dirty="0">
                          <a:solidFill>
                            <a:schemeClr val="bg1"/>
                          </a:solidFill>
                        </a:rPr>
                        <a:t>(si/no)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49433"/>
                  </a:ext>
                </a:extLst>
              </a:tr>
              <a:tr h="454447">
                <a:tc>
                  <a:txBody>
                    <a:bodyPr/>
                    <a:lstStyle/>
                    <a:p>
                      <a:r>
                        <a:rPr lang="es-ES" dirty="0"/>
                        <a:t>“</a:t>
                      </a:r>
                      <a:r>
                        <a:rPr lang="es-ES" dirty="0" err="1"/>
                        <a:t>Airline</a:t>
                      </a:r>
                      <a:r>
                        <a:rPr lang="es-ES" dirty="0"/>
                        <a:t>”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58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“</a:t>
                      </a:r>
                      <a:r>
                        <a:rPr lang="es-ES" dirty="0" err="1"/>
                        <a:t>From</a:t>
                      </a:r>
                      <a:r>
                        <a:rPr lang="es-ES" dirty="0"/>
                        <a:t>”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727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“</a:t>
                      </a:r>
                      <a:r>
                        <a:rPr lang="es-ES" dirty="0" err="1"/>
                        <a:t>To</a:t>
                      </a:r>
                      <a:r>
                        <a:rPr lang="es-ES" dirty="0"/>
                        <a:t>”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0972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“</a:t>
                      </a:r>
                      <a:r>
                        <a:rPr lang="es-ES" dirty="0" err="1"/>
                        <a:t>dep_time_cat</a:t>
                      </a:r>
                      <a:r>
                        <a:rPr lang="es-ES" dirty="0"/>
                        <a:t>”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1,65 e</a:t>
                      </a:r>
                      <a:r>
                        <a:rPr lang="es-ES" baseline="30000" dirty="0"/>
                        <a:t>-60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01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“</a:t>
                      </a:r>
                      <a:r>
                        <a:rPr lang="es-ES" dirty="0" err="1"/>
                        <a:t>arr_time_cat</a:t>
                      </a:r>
                      <a:r>
                        <a:rPr lang="es-ES" dirty="0"/>
                        <a:t>”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539363"/>
                  </a:ext>
                </a:extLst>
              </a:tr>
            </a:tbl>
          </a:graphicData>
        </a:graphic>
      </p:graphicFrame>
      <p:sp>
        <p:nvSpPr>
          <p:cNvPr id="23" name="CuadroTexto 22">
            <a:extLst>
              <a:ext uri="{FF2B5EF4-FFF2-40B4-BE49-F238E27FC236}">
                <a16:creationId xmlns:a16="http://schemas.microsoft.com/office/drawing/2014/main" id="{D1A36516-3B3C-8418-6D87-C7C9C2B2AC0A}"/>
              </a:ext>
            </a:extLst>
          </p:cNvPr>
          <p:cNvSpPr txBox="1"/>
          <p:nvPr/>
        </p:nvSpPr>
        <p:spPr>
          <a:xfrm>
            <a:off x="6629400" y="3563127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MI: 2.74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BF67C80-A3E8-7927-23C9-C217E8BAD41F}"/>
              </a:ext>
            </a:extLst>
          </p:cNvPr>
          <p:cNvSpPr txBox="1"/>
          <p:nvPr/>
        </p:nvSpPr>
        <p:spPr>
          <a:xfrm>
            <a:off x="6619874" y="4448843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MI: 0.32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3847D84-8EAA-D43A-0E2F-3E21F5C7B841}"/>
              </a:ext>
            </a:extLst>
          </p:cNvPr>
          <p:cNvSpPr txBox="1"/>
          <p:nvPr/>
        </p:nvSpPr>
        <p:spPr>
          <a:xfrm>
            <a:off x="6619873" y="531986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MI: 0.13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A8B3438-3B32-E328-28B7-B70A0A522AFF}"/>
              </a:ext>
            </a:extLst>
          </p:cNvPr>
          <p:cNvSpPr txBox="1"/>
          <p:nvPr/>
        </p:nvSpPr>
        <p:spPr>
          <a:xfrm>
            <a:off x="6629400" y="5975449"/>
            <a:ext cx="2452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MI: Mutual </a:t>
            </a:r>
            <a:r>
              <a:rPr lang="es-ES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</a:t>
            </a:r>
            <a:endParaRPr lang="es-E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A889F1D-5685-2A34-349A-11072CAEC18D}"/>
              </a:ext>
            </a:extLst>
          </p:cNvPr>
          <p:cNvCxnSpPr>
            <a:cxnSpLocks/>
          </p:cNvCxnSpPr>
          <p:nvPr/>
        </p:nvCxnSpPr>
        <p:spPr>
          <a:xfrm>
            <a:off x="149723" y="6572250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D829D340-A96C-6593-3A20-5E67C3863735}"/>
              </a:ext>
            </a:extLst>
          </p:cNvPr>
          <p:cNvCxnSpPr>
            <a:cxnSpLocks/>
          </p:cNvCxnSpPr>
          <p:nvPr/>
        </p:nvCxnSpPr>
        <p:spPr>
          <a:xfrm>
            <a:off x="149723" y="6630866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428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1A56D8-2F2A-4AB9-7CC3-97B7D3C37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940" y="1454127"/>
            <a:ext cx="6400800" cy="829971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400" u="sng" dirty="0">
                <a:solidFill>
                  <a:srgbClr val="0070C0"/>
                </a:solidFill>
              </a:rPr>
              <a:t>Variables categóricas: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2000" dirty="0"/>
              <a:t>Codificamos a través de </a:t>
            </a:r>
            <a:r>
              <a:rPr lang="es-ES" sz="2000" dirty="0" err="1">
                <a:solidFill>
                  <a:srgbClr val="0070C0"/>
                </a:solidFill>
              </a:rPr>
              <a:t>OneHotEncoder</a:t>
            </a:r>
            <a:r>
              <a:rPr lang="es-ES" sz="2000" dirty="0">
                <a:solidFill>
                  <a:srgbClr val="0070C0"/>
                </a:solidFill>
              </a:rPr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022E9E-134C-3006-4C5F-5FA7E02FB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406593"/>
            <a:ext cx="4604694" cy="78492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0DE8B07-BB8D-CAE2-D6C2-ED4DFB9B3F49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3E64DEB-F174-C467-4CF6-9B41A0590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0132158-512C-BA87-0AAD-51B7F3B6261C}"/>
              </a:ext>
            </a:extLst>
          </p:cNvPr>
          <p:cNvSpPr txBox="1"/>
          <p:nvPr/>
        </p:nvSpPr>
        <p:spPr>
          <a:xfrm>
            <a:off x="540000" y="183168"/>
            <a:ext cx="9202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Tratamiento de </a:t>
            </a:r>
            <a:r>
              <a:rPr lang="es-ES" sz="28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es-E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EE7DC21-981E-D90E-D865-45E1F8F416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44546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740" y="1454127"/>
            <a:ext cx="4232900" cy="29725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1549C78B-F7AD-B2CB-07D4-185E3F374F13}"/>
              </a:ext>
            </a:extLst>
          </p:cNvPr>
          <p:cNvSpPr txBox="1"/>
          <p:nvPr/>
        </p:nvSpPr>
        <p:spPr>
          <a:xfrm>
            <a:off x="468940" y="3485466"/>
            <a:ext cx="6096000" cy="829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s-ES" sz="2400" u="sng" dirty="0">
                <a:solidFill>
                  <a:srgbClr val="0070C0"/>
                </a:solidFill>
              </a:rPr>
              <a:t>Variables numéricas: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No las vamos a tratar --&gt; modelos basados en árboles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A75D5DB-C3C6-0850-321B-7066A32EA170}"/>
              </a:ext>
            </a:extLst>
          </p:cNvPr>
          <p:cNvCxnSpPr>
            <a:cxnSpLocks/>
          </p:cNvCxnSpPr>
          <p:nvPr/>
        </p:nvCxnSpPr>
        <p:spPr>
          <a:xfrm>
            <a:off x="149723" y="6572250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98D9B02-8FB8-1374-3A3E-39BAC095336A}"/>
              </a:ext>
            </a:extLst>
          </p:cNvPr>
          <p:cNvCxnSpPr>
            <a:cxnSpLocks/>
          </p:cNvCxnSpPr>
          <p:nvPr/>
        </p:nvCxnSpPr>
        <p:spPr>
          <a:xfrm>
            <a:off x="149723" y="6630866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95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E21EC-B3FD-C963-CEE1-3F937267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29C56FF-A682-3620-BFD2-B1C8B58156E3}"/>
              </a:ext>
            </a:extLst>
          </p:cNvPr>
          <p:cNvSpPr/>
          <p:nvPr/>
        </p:nvSpPr>
        <p:spPr>
          <a:xfrm>
            <a:off x="382133" y="1475545"/>
            <a:ext cx="3600000" cy="1091821"/>
          </a:xfrm>
          <a:prstGeom prst="roundRect">
            <a:avLst/>
          </a:prstGeom>
          <a:solidFill>
            <a:srgbClr val="00B050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 dirty="0"/>
              <a:t>M1: </a:t>
            </a:r>
            <a:r>
              <a:rPr lang="es-ES" sz="2200" dirty="0" err="1"/>
              <a:t>RandomForestRegressor</a:t>
            </a:r>
            <a:br>
              <a:rPr lang="es-ES" sz="2200" dirty="0"/>
            </a:br>
            <a:r>
              <a:rPr lang="es-ES" sz="2200" dirty="0"/>
              <a:t>(</a:t>
            </a:r>
            <a:r>
              <a:rPr lang="es-ES" sz="2200" dirty="0" err="1"/>
              <a:t>Baseline</a:t>
            </a:r>
            <a:r>
              <a:rPr lang="es-ES" sz="2200" dirty="0"/>
              <a:t>)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B8B9B3D-0007-F365-80D7-D96B8606D17C}"/>
              </a:ext>
            </a:extLst>
          </p:cNvPr>
          <p:cNvSpPr/>
          <p:nvPr/>
        </p:nvSpPr>
        <p:spPr>
          <a:xfrm>
            <a:off x="4290346" y="1475545"/>
            <a:ext cx="3600000" cy="1091821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softEdge rad="254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/>
              <a:t>M2: </a:t>
            </a:r>
            <a:r>
              <a:rPr lang="es-ES" sz="2400" dirty="0" err="1"/>
              <a:t>XGBRegressor</a:t>
            </a:r>
            <a:endParaRPr lang="es-ES" sz="24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4B50EDE-D5C5-547F-3106-FB563F0DAC4C}"/>
              </a:ext>
            </a:extLst>
          </p:cNvPr>
          <p:cNvSpPr/>
          <p:nvPr/>
        </p:nvSpPr>
        <p:spPr>
          <a:xfrm>
            <a:off x="8209869" y="1475545"/>
            <a:ext cx="3600000" cy="1091821"/>
          </a:xfrm>
          <a:prstGeom prst="roundRect">
            <a:avLst/>
          </a:prstGeom>
          <a:solidFill>
            <a:srgbClr val="0070C0"/>
          </a:solidFill>
          <a:ln cap="flat">
            <a:noFill/>
            <a:rou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/>
              <a:t>M3: </a:t>
            </a:r>
            <a:r>
              <a:rPr lang="es-ES" sz="2400" dirty="0" err="1"/>
              <a:t>LGBMRegressor</a:t>
            </a:r>
            <a:endParaRPr lang="es-ES" sz="2400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E906F11C-FD17-6970-EF6A-5897A6A0E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384177"/>
              </p:ext>
            </p:extLst>
          </p:nvPr>
        </p:nvGraphicFramePr>
        <p:xfrm>
          <a:off x="382131" y="2888839"/>
          <a:ext cx="3600003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001">
                  <a:extLst>
                    <a:ext uri="{9D8B030D-6E8A-4147-A177-3AD203B41FA5}">
                      <a16:colId xmlns:a16="http://schemas.microsoft.com/office/drawing/2014/main" val="1731540712"/>
                    </a:ext>
                  </a:extLst>
                </a:gridCol>
                <a:gridCol w="1200001">
                  <a:extLst>
                    <a:ext uri="{9D8B030D-6E8A-4147-A177-3AD203B41FA5}">
                      <a16:colId xmlns:a16="http://schemas.microsoft.com/office/drawing/2014/main" val="677091030"/>
                    </a:ext>
                  </a:extLst>
                </a:gridCol>
                <a:gridCol w="1200001">
                  <a:extLst>
                    <a:ext uri="{9D8B030D-6E8A-4147-A177-3AD203B41FA5}">
                      <a16:colId xmlns:a16="http://schemas.microsoft.com/office/drawing/2014/main" val="88188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019053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es-ES" dirty="0" err="1">
                          <a:solidFill>
                            <a:srgbClr val="00B050"/>
                          </a:solidFill>
                        </a:rPr>
                        <a:t>Dataset</a:t>
                      </a:r>
                      <a:r>
                        <a:rPr lang="es-ES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ES" dirty="0" err="1">
                          <a:solidFill>
                            <a:srgbClr val="00B050"/>
                          </a:solidFill>
                        </a:rPr>
                        <a:t>Economy</a:t>
                      </a:r>
                      <a:endParaRPr lang="es-E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92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1465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65231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es-ES" dirty="0" err="1">
                          <a:solidFill>
                            <a:srgbClr val="00B050"/>
                          </a:solidFill>
                        </a:rPr>
                        <a:t>Dataset</a:t>
                      </a:r>
                      <a:r>
                        <a:rPr lang="es-ES" dirty="0">
                          <a:solidFill>
                            <a:srgbClr val="00B050"/>
                          </a:solidFill>
                        </a:rPr>
                        <a:t> Business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439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973142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082B4E96-6441-7C3C-4CFC-2EF27BE5D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403120"/>
              </p:ext>
            </p:extLst>
          </p:nvPr>
        </p:nvGraphicFramePr>
        <p:xfrm>
          <a:off x="4290342" y="2897802"/>
          <a:ext cx="3600003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001">
                  <a:extLst>
                    <a:ext uri="{9D8B030D-6E8A-4147-A177-3AD203B41FA5}">
                      <a16:colId xmlns:a16="http://schemas.microsoft.com/office/drawing/2014/main" val="1731540712"/>
                    </a:ext>
                  </a:extLst>
                </a:gridCol>
                <a:gridCol w="1200001">
                  <a:extLst>
                    <a:ext uri="{9D8B030D-6E8A-4147-A177-3AD203B41FA5}">
                      <a16:colId xmlns:a16="http://schemas.microsoft.com/office/drawing/2014/main" val="677091030"/>
                    </a:ext>
                  </a:extLst>
                </a:gridCol>
                <a:gridCol w="1200001">
                  <a:extLst>
                    <a:ext uri="{9D8B030D-6E8A-4147-A177-3AD203B41FA5}">
                      <a16:colId xmlns:a16="http://schemas.microsoft.com/office/drawing/2014/main" val="88188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019053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>
                          <a:solidFill>
                            <a:schemeClr val="accent2"/>
                          </a:solidFill>
                        </a:rPr>
                        <a:t>Dataset</a:t>
                      </a:r>
                      <a:r>
                        <a:rPr lang="es-ES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s-ES" dirty="0" err="1">
                          <a:solidFill>
                            <a:schemeClr val="accent2"/>
                          </a:solidFill>
                        </a:rPr>
                        <a:t>Economy</a:t>
                      </a:r>
                      <a:endParaRPr lang="es-ES" dirty="0">
                        <a:solidFill>
                          <a:schemeClr val="accent2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92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tx1"/>
                          </a:solidFill>
                        </a:rPr>
                        <a:t>1771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tx1"/>
                          </a:solidFill>
                        </a:rPr>
                        <a:t>1104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solidFill>
                            <a:schemeClr val="tx1"/>
                          </a:solidFill>
                        </a:rPr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65231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>
                          <a:solidFill>
                            <a:schemeClr val="accent2"/>
                          </a:solidFill>
                        </a:rPr>
                        <a:t>Dataset</a:t>
                      </a:r>
                      <a:r>
                        <a:rPr lang="es-ES" dirty="0">
                          <a:solidFill>
                            <a:schemeClr val="accent2"/>
                          </a:solidFill>
                        </a:rPr>
                        <a:t> Business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439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648281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B6960B17-8EF5-6C28-ACA6-077F4659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712100"/>
              </p:ext>
            </p:extLst>
          </p:nvPr>
        </p:nvGraphicFramePr>
        <p:xfrm>
          <a:off x="8209868" y="2888839"/>
          <a:ext cx="3600006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002">
                  <a:extLst>
                    <a:ext uri="{9D8B030D-6E8A-4147-A177-3AD203B41FA5}">
                      <a16:colId xmlns:a16="http://schemas.microsoft.com/office/drawing/2014/main" val="1731540712"/>
                    </a:ext>
                  </a:extLst>
                </a:gridCol>
                <a:gridCol w="1200002">
                  <a:extLst>
                    <a:ext uri="{9D8B030D-6E8A-4147-A177-3AD203B41FA5}">
                      <a16:colId xmlns:a16="http://schemas.microsoft.com/office/drawing/2014/main" val="677091030"/>
                    </a:ext>
                  </a:extLst>
                </a:gridCol>
                <a:gridCol w="1200002">
                  <a:extLst>
                    <a:ext uri="{9D8B030D-6E8A-4147-A177-3AD203B41FA5}">
                      <a16:colId xmlns:a16="http://schemas.microsoft.com/office/drawing/2014/main" val="8818850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019053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>
                          <a:solidFill>
                            <a:srgbClr val="0070C0"/>
                          </a:solidFill>
                        </a:rPr>
                        <a:t>Dataset</a:t>
                      </a:r>
                      <a:r>
                        <a:rPr lang="es-ES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s-ES" dirty="0" err="1">
                          <a:solidFill>
                            <a:srgbClr val="0070C0"/>
                          </a:solidFill>
                        </a:rPr>
                        <a:t>Economy</a:t>
                      </a:r>
                      <a:endParaRPr lang="es-ES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925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65231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>
                          <a:solidFill>
                            <a:srgbClr val="0070C0"/>
                          </a:solidFill>
                        </a:rPr>
                        <a:t>Dataset</a:t>
                      </a:r>
                      <a:r>
                        <a:rPr lang="es-ES" dirty="0">
                          <a:solidFill>
                            <a:srgbClr val="0070C0"/>
                          </a:solidFill>
                        </a:rPr>
                        <a:t> Business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439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311240"/>
                  </a:ext>
                </a:extLst>
              </a:tr>
            </a:tbl>
          </a:graphicData>
        </a:graphic>
      </p:graphicFrame>
      <p:sp>
        <p:nvSpPr>
          <p:cNvPr id="15" name="Elipse 14">
            <a:extLst>
              <a:ext uri="{FF2B5EF4-FFF2-40B4-BE49-F238E27FC236}">
                <a16:creationId xmlns:a16="http://schemas.microsoft.com/office/drawing/2014/main" id="{9F5A83BF-66E7-5AC9-12C5-E97EFFB76947}"/>
              </a:ext>
            </a:extLst>
          </p:cNvPr>
          <p:cNvSpPr/>
          <p:nvPr/>
        </p:nvSpPr>
        <p:spPr>
          <a:xfrm>
            <a:off x="4178595" y="3571432"/>
            <a:ext cx="3806456" cy="510362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E9190DD-CA5B-A13E-E2EA-31B0885AEF8B}"/>
              </a:ext>
            </a:extLst>
          </p:cNvPr>
          <p:cNvSpPr txBox="1"/>
          <p:nvPr/>
        </p:nvSpPr>
        <p:spPr>
          <a:xfrm>
            <a:off x="3677967" y="5540668"/>
            <a:ext cx="4994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>
                <a:solidFill>
                  <a:srgbClr val="0070C0"/>
                </a:solidFill>
              </a:rPr>
              <a:t>¡Escogemos el modelo XG-</a:t>
            </a:r>
            <a:r>
              <a:rPr lang="es-ES" sz="2800" dirty="0" err="1">
                <a:solidFill>
                  <a:srgbClr val="0070C0"/>
                </a:solidFill>
              </a:rPr>
              <a:t>Boost</a:t>
            </a:r>
            <a:r>
              <a:rPr lang="es-ES" sz="2800" dirty="0">
                <a:solidFill>
                  <a:srgbClr val="0070C0"/>
                </a:solidFill>
              </a:rPr>
              <a:t>!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92D0C28-E9C1-9902-5D7C-E331384AA034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BCA75E3-B96D-4B83-BB49-ABC6310B6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C4458768-D128-E2ED-663F-8C92E28BF6DE}"/>
              </a:ext>
            </a:extLst>
          </p:cNvPr>
          <p:cNvSpPr txBox="1"/>
          <p:nvPr/>
        </p:nvSpPr>
        <p:spPr>
          <a:xfrm>
            <a:off x="540000" y="183168"/>
            <a:ext cx="10604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Elección de modelos: discriminación por </a:t>
            </a:r>
            <a:r>
              <a:rPr lang="es-ES" sz="28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</a:t>
            </a:r>
            <a:r>
              <a:rPr lang="es-ES" sz="28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  <a:endParaRPr lang="es-E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835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654041-D0CB-6F60-2CA2-529C7C80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25" y="2555155"/>
            <a:ext cx="3404191" cy="1851789"/>
          </a:xfr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sz="1800" dirty="0" err="1"/>
              <a:t>n_estimators</a:t>
            </a:r>
            <a:r>
              <a:rPr lang="es-ES" sz="1800" dirty="0"/>
              <a:t>":      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 err="1"/>
              <a:t>max_depth</a:t>
            </a:r>
            <a:r>
              <a:rPr lang="es-ES" sz="1800" dirty="0"/>
              <a:t>":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 err="1"/>
              <a:t>learning_rate</a:t>
            </a:r>
            <a:r>
              <a:rPr lang="es-ES" sz="1800" dirty="0"/>
              <a:t>":      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/>
              <a:t> </a:t>
            </a:r>
            <a:r>
              <a:rPr lang="es-ES" sz="1800" dirty="0" err="1"/>
              <a:t>subsample</a:t>
            </a:r>
            <a:r>
              <a:rPr lang="es-ES" sz="1800" dirty="0"/>
              <a:t>":      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 err="1"/>
              <a:t>colsample_bytree</a:t>
            </a:r>
            <a:r>
              <a:rPr lang="es-ES" sz="1800" dirty="0"/>
              <a:t>":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14FA269-67EE-6DF6-D071-49DAC0457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796" y="1893747"/>
            <a:ext cx="4314532" cy="4320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D04B714-ABE6-7402-60B9-D46522BA2B8E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586A6CD-4DA6-877C-02E0-4F126F82C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653BDBC-7909-9FEC-3007-20671E375A10}"/>
              </a:ext>
            </a:extLst>
          </p:cNvPr>
          <p:cNvSpPr txBox="1"/>
          <p:nvPr/>
        </p:nvSpPr>
        <p:spPr>
          <a:xfrm>
            <a:off x="540000" y="183168"/>
            <a:ext cx="10604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 con 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Optuna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economy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E1A45DE-9461-0DEE-630A-2E4B0A56F900}"/>
              </a:ext>
            </a:extLst>
          </p:cNvPr>
          <p:cNvCxnSpPr>
            <a:cxnSpLocks/>
          </p:cNvCxnSpPr>
          <p:nvPr/>
        </p:nvCxnSpPr>
        <p:spPr>
          <a:xfrm>
            <a:off x="149723" y="6572250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6D637FEB-7070-66F2-259C-78A1EFD8AE99}"/>
              </a:ext>
            </a:extLst>
          </p:cNvPr>
          <p:cNvCxnSpPr>
            <a:cxnSpLocks/>
          </p:cNvCxnSpPr>
          <p:nvPr/>
        </p:nvCxnSpPr>
        <p:spPr>
          <a:xfrm>
            <a:off x="149723" y="6630866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4AB5A6E-683A-037D-A07B-048BDCD8253F}"/>
              </a:ext>
            </a:extLst>
          </p:cNvPr>
          <p:cNvSpPr txBox="1"/>
          <p:nvPr/>
        </p:nvSpPr>
        <p:spPr>
          <a:xfrm>
            <a:off x="569416" y="1305410"/>
            <a:ext cx="38773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000" dirty="0">
                <a:solidFill>
                  <a:srgbClr val="0070C0"/>
                </a:solidFill>
              </a:rPr>
              <a:t>Optimización bayesiana </a:t>
            </a:r>
            <a:br>
              <a:rPr lang="es-ES" sz="2000" dirty="0">
                <a:solidFill>
                  <a:srgbClr val="0070C0"/>
                </a:solidFill>
              </a:rPr>
            </a:br>
            <a:r>
              <a:rPr lang="es-ES" sz="1800" dirty="0"/>
              <a:t>con los siguientes </a:t>
            </a:r>
            <a:r>
              <a:rPr lang="es-ES" sz="1800" dirty="0" err="1"/>
              <a:t>hiperparámetros</a:t>
            </a:r>
            <a:r>
              <a:rPr lang="es-ES" sz="1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87001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89341-00E4-5108-6505-CAC451AC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E9DF8-EB44-2AC7-187B-85414F242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60" y="1618186"/>
            <a:ext cx="3404191" cy="2478627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1800" dirty="0"/>
              <a:t>Optimización bayesiana con los siguientes </a:t>
            </a:r>
            <a:r>
              <a:rPr lang="es-ES" sz="1800" dirty="0" err="1"/>
              <a:t>hiperparámetros</a:t>
            </a:r>
            <a:r>
              <a:rPr lang="es-ES" sz="1800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 err="1"/>
              <a:t>n_estimators</a:t>
            </a:r>
            <a:r>
              <a:rPr lang="es-ES" sz="1800" dirty="0"/>
              <a:t>":      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 err="1"/>
              <a:t>max_depth</a:t>
            </a:r>
            <a:r>
              <a:rPr lang="es-ES" sz="1800" dirty="0"/>
              <a:t>":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 err="1"/>
              <a:t>learning_rate</a:t>
            </a:r>
            <a:r>
              <a:rPr lang="es-ES" sz="1800" dirty="0"/>
              <a:t>":      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/>
              <a:t> </a:t>
            </a:r>
            <a:r>
              <a:rPr lang="es-ES" sz="1800" dirty="0" err="1"/>
              <a:t>subsample</a:t>
            </a:r>
            <a:r>
              <a:rPr lang="es-ES" sz="1800" dirty="0"/>
              <a:t>":       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sz="1800" dirty="0" err="1"/>
              <a:t>colsample_bytree</a:t>
            </a:r>
            <a:r>
              <a:rPr lang="es-ES" sz="1800" dirty="0"/>
              <a:t>":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7A219F6-2574-CAC4-CEDE-CA09B2DA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686" y="1502924"/>
            <a:ext cx="4314532" cy="4320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B953CE12-6735-7C88-46B3-638B15415EA9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E01751C-CEEC-90D2-4FA4-D4D4BC36C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E22CD-459C-81C7-8BA7-2442DDCA2FC2}"/>
              </a:ext>
            </a:extLst>
          </p:cNvPr>
          <p:cNvSpPr txBox="1"/>
          <p:nvPr/>
        </p:nvSpPr>
        <p:spPr>
          <a:xfrm>
            <a:off x="540000" y="183168"/>
            <a:ext cx="10604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Optimización con 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Optuna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economy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F595341-86D3-AF54-7C0B-9A1ECC2AA81A}"/>
              </a:ext>
            </a:extLst>
          </p:cNvPr>
          <p:cNvCxnSpPr>
            <a:cxnSpLocks/>
          </p:cNvCxnSpPr>
          <p:nvPr/>
        </p:nvCxnSpPr>
        <p:spPr>
          <a:xfrm>
            <a:off x="149723" y="6572250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FEAA49A8-47DC-7389-6E51-415B5D6D2F4A}"/>
              </a:ext>
            </a:extLst>
          </p:cNvPr>
          <p:cNvCxnSpPr>
            <a:cxnSpLocks/>
          </p:cNvCxnSpPr>
          <p:nvPr/>
        </p:nvCxnSpPr>
        <p:spPr>
          <a:xfrm>
            <a:off x="149723" y="6630866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983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B7C7A974-BE7A-7A11-665E-E24F65B002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982649"/>
              </p:ext>
            </p:extLst>
          </p:nvPr>
        </p:nvGraphicFramePr>
        <p:xfrm>
          <a:off x="628650" y="1769236"/>
          <a:ext cx="10515600" cy="3547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4254653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36722423"/>
                    </a:ext>
                  </a:extLst>
                </a:gridCol>
              </a:tblGrid>
              <a:tr h="406708">
                <a:tc>
                  <a:txBody>
                    <a:bodyPr/>
                    <a:lstStyle/>
                    <a:p>
                      <a:r>
                        <a:rPr lang="es-ES" dirty="0" err="1"/>
                        <a:t>Economy</a:t>
                      </a:r>
                      <a:r>
                        <a:rPr lang="es-E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Business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350074"/>
                  </a:ext>
                </a:extLst>
              </a:tr>
              <a:tr h="4067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>
                          <a:effectLst/>
                        </a:rPr>
                        <a:t>División 80% </a:t>
                      </a:r>
                      <a:r>
                        <a:rPr lang="es-ES" dirty="0" err="1">
                          <a:effectLst/>
                        </a:rPr>
                        <a:t>train</a:t>
                      </a:r>
                      <a:r>
                        <a:rPr lang="es-ES" dirty="0">
                          <a:effectLst/>
                        </a:rPr>
                        <a:t> / 20% test.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División 80% </a:t>
                      </a:r>
                      <a:r>
                        <a:rPr lang="es-ES" dirty="0" err="1"/>
                        <a:t>train</a:t>
                      </a:r>
                      <a:r>
                        <a:rPr lang="es-ES" dirty="0"/>
                        <a:t> / 20% test.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219090"/>
                  </a:ext>
                </a:extLst>
              </a:tr>
              <a:tr h="406708">
                <a:tc>
                  <a:txBody>
                    <a:bodyPr/>
                    <a:lstStyle/>
                    <a:p>
                      <a:r>
                        <a:rPr lang="es-ES" dirty="0"/>
                        <a:t>Validación cruzada sobre el 80% de entrenamiento.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Validación cruzada sobre el 80% de entrenamiento.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122357"/>
                  </a:ext>
                </a:extLst>
              </a:tr>
              <a:tr h="406708">
                <a:tc>
                  <a:txBody>
                    <a:bodyPr/>
                    <a:lstStyle/>
                    <a:p>
                      <a:r>
                        <a:rPr lang="es-ES" b="1" dirty="0" err="1">
                          <a:effectLst/>
                        </a:rPr>
                        <a:t>XGBoost</a:t>
                      </a:r>
                      <a:r>
                        <a:rPr lang="es-ES" b="1" dirty="0">
                          <a:effectLst/>
                        </a:rPr>
                        <a:t> base:</a:t>
                      </a:r>
                      <a:r>
                        <a:rPr lang="es-ES" dirty="0"/>
                        <a:t> RMSE = </a:t>
                      </a:r>
                      <a:r>
                        <a:rPr lang="es-ES" b="1" dirty="0">
                          <a:effectLst/>
                        </a:rPr>
                        <a:t>1771 INR</a:t>
                      </a:r>
                      <a:r>
                        <a:rPr lang="es-ES" dirty="0"/>
                        <a:t> (~17€).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effectLst/>
                        </a:rPr>
                        <a:t>Modelos base:</a:t>
                      </a:r>
                      <a:r>
                        <a:rPr lang="es-ES" dirty="0"/>
                        <a:t> RF = 8811, LGBM = 6715, XGB = </a:t>
                      </a:r>
                      <a:r>
                        <a:rPr lang="es-ES" b="1" dirty="0">
                          <a:effectLst/>
                        </a:rPr>
                        <a:t>5536 INR</a:t>
                      </a:r>
                      <a:r>
                        <a:rPr lang="es-ES" dirty="0"/>
                        <a:t> (~52€).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701576"/>
                  </a:ext>
                </a:extLst>
              </a:tr>
              <a:tr h="382852">
                <a:tc>
                  <a:txBody>
                    <a:bodyPr/>
                    <a:lstStyle/>
                    <a:p>
                      <a:r>
                        <a:rPr lang="es-ES" b="1" dirty="0" err="1">
                          <a:effectLst/>
                        </a:rPr>
                        <a:t>XGBoost</a:t>
                      </a:r>
                      <a:r>
                        <a:rPr lang="es-ES" b="1" dirty="0">
                          <a:effectLst/>
                        </a:rPr>
                        <a:t> optimizado (</a:t>
                      </a:r>
                      <a:r>
                        <a:rPr lang="es-ES" b="1" dirty="0" err="1">
                          <a:effectLst/>
                        </a:rPr>
                        <a:t>Optuna</a:t>
                      </a:r>
                      <a:r>
                        <a:rPr lang="es-ES" b="1" dirty="0">
                          <a:effectLst/>
                        </a:rPr>
                        <a:t>):</a:t>
                      </a:r>
                      <a:r>
                        <a:rPr lang="es-ES" dirty="0"/>
                        <a:t> RMSE CV = </a:t>
                      </a:r>
                      <a:r>
                        <a:rPr lang="es-ES" b="1" dirty="0">
                          <a:effectLst/>
                        </a:rPr>
                        <a:t>1377 INR</a:t>
                      </a:r>
                      <a:r>
                        <a:rPr lang="es-ES" dirty="0"/>
                        <a:t> (~13€).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 err="1">
                          <a:effectLst/>
                        </a:rPr>
                        <a:t>XGBoost</a:t>
                      </a:r>
                      <a:r>
                        <a:rPr lang="es-ES" b="1" dirty="0">
                          <a:effectLst/>
                        </a:rPr>
                        <a:t> optimizado (</a:t>
                      </a:r>
                      <a:r>
                        <a:rPr lang="es-ES" b="1" dirty="0" err="1">
                          <a:effectLst/>
                        </a:rPr>
                        <a:t>Optuna</a:t>
                      </a:r>
                      <a:r>
                        <a:rPr lang="es-ES" b="1" dirty="0">
                          <a:effectLst/>
                        </a:rPr>
                        <a:t>):</a:t>
                      </a:r>
                      <a:r>
                        <a:rPr lang="es-ES" dirty="0"/>
                        <a:t> RMSE CV = </a:t>
                      </a:r>
                      <a:r>
                        <a:rPr lang="es-ES" b="1" dirty="0">
                          <a:effectLst/>
                        </a:rPr>
                        <a:t>3931 INR</a:t>
                      </a:r>
                      <a:r>
                        <a:rPr lang="es-ES" dirty="0"/>
                        <a:t> (~37€).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312116"/>
                  </a:ext>
                </a:extLst>
              </a:tr>
              <a:tr h="406708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Test final:</a:t>
                      </a:r>
                      <a:r>
                        <a:rPr lang="en-US" dirty="0"/>
                        <a:t> RMSE = </a:t>
                      </a:r>
                      <a:r>
                        <a:rPr lang="en-US" b="1" dirty="0">
                          <a:effectLst/>
                        </a:rPr>
                        <a:t>1329 INR</a:t>
                      </a:r>
                      <a:r>
                        <a:rPr lang="en-US" dirty="0"/>
                        <a:t> (~13€).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Test final:</a:t>
                      </a:r>
                      <a:r>
                        <a:rPr lang="en-US" dirty="0"/>
                        <a:t> RMSE = </a:t>
                      </a:r>
                      <a:r>
                        <a:rPr lang="en-US" b="1" dirty="0">
                          <a:effectLst/>
                        </a:rPr>
                        <a:t>3786 INR</a:t>
                      </a:r>
                      <a:r>
                        <a:rPr lang="en-US" dirty="0"/>
                        <a:t> (~36€).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70435"/>
                  </a:ext>
                </a:extLst>
              </a:tr>
              <a:tr h="406708">
                <a:tc>
                  <a:txBody>
                    <a:bodyPr/>
                    <a:lstStyle/>
                    <a:p>
                      <a:r>
                        <a:rPr lang="es-ES" b="1" dirty="0">
                          <a:effectLst/>
                        </a:rPr>
                        <a:t>Conclusión:</a:t>
                      </a:r>
                      <a:r>
                        <a:rPr lang="es-ES" dirty="0"/>
                        <a:t> CV y test muy similares → </a:t>
                      </a:r>
                      <a:r>
                        <a:rPr lang="es-ES" b="1" dirty="0">
                          <a:effectLst/>
                        </a:rPr>
                        <a:t>excelente generalización</a:t>
                      </a:r>
                      <a:r>
                        <a:rPr lang="es-ES" dirty="0"/>
                        <a:t>, sin </a:t>
                      </a:r>
                      <a:r>
                        <a:rPr lang="es-ES" dirty="0" err="1"/>
                        <a:t>overfitting</a:t>
                      </a:r>
                      <a:r>
                        <a:rPr lang="es-E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1" dirty="0">
                          <a:effectLst/>
                        </a:rPr>
                        <a:t>Conclusión:</a:t>
                      </a:r>
                      <a:r>
                        <a:rPr lang="es-ES" dirty="0"/>
                        <a:t> CV y test muy próximos → </a:t>
                      </a:r>
                      <a:r>
                        <a:rPr lang="es-ES" b="1" dirty="0">
                          <a:effectLst/>
                        </a:rPr>
                        <a:t>modelo robusto</a:t>
                      </a:r>
                      <a:r>
                        <a:rPr lang="es-ES" dirty="0"/>
                        <a:t> pese a la alta variabilidad de Business.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141643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52E28A2A-44C8-B2A8-FFE0-B07F8ED6589B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80315E5-312F-FA00-4B47-ED00D8365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D411029-7721-1EF2-8604-88DEA239350B}"/>
              </a:ext>
            </a:extLst>
          </p:cNvPr>
          <p:cNvSpPr txBox="1"/>
          <p:nvPr/>
        </p:nvSpPr>
        <p:spPr>
          <a:xfrm>
            <a:off x="540000" y="183168"/>
            <a:ext cx="10604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53D7E06-725F-188C-F1D4-C25003AB9FFD}"/>
              </a:ext>
            </a:extLst>
          </p:cNvPr>
          <p:cNvCxnSpPr>
            <a:cxnSpLocks/>
          </p:cNvCxnSpPr>
          <p:nvPr/>
        </p:nvCxnSpPr>
        <p:spPr>
          <a:xfrm>
            <a:off x="149723" y="6572250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5B77D87-42E1-33AB-F894-0D60B3DD6445}"/>
              </a:ext>
            </a:extLst>
          </p:cNvPr>
          <p:cNvCxnSpPr>
            <a:cxnSpLocks/>
          </p:cNvCxnSpPr>
          <p:nvPr/>
        </p:nvCxnSpPr>
        <p:spPr>
          <a:xfrm>
            <a:off x="149723" y="6630866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362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F631877-DE0B-0FAC-49B2-FE4DC1DF0720}"/>
              </a:ext>
            </a:extLst>
          </p:cNvPr>
          <p:cNvSpPr/>
          <p:nvPr/>
        </p:nvSpPr>
        <p:spPr>
          <a:xfrm>
            <a:off x="0" y="0"/>
            <a:ext cx="12192000" cy="82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DFD8C69-7409-F0E4-2EEE-B458A0F9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000" y="13648"/>
            <a:ext cx="1451368" cy="7920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FFEDF3F-E34E-57EA-959C-B334D8A69614}"/>
              </a:ext>
            </a:extLst>
          </p:cNvPr>
          <p:cNvSpPr txBox="1"/>
          <p:nvPr/>
        </p:nvSpPr>
        <p:spPr>
          <a:xfrm>
            <a:off x="540000" y="183168"/>
            <a:ext cx="10604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Extra: modelo de clasificación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9D3CCE0-6D36-3824-8653-CF1D8DF448FF}"/>
              </a:ext>
            </a:extLst>
          </p:cNvPr>
          <p:cNvCxnSpPr>
            <a:cxnSpLocks/>
          </p:cNvCxnSpPr>
          <p:nvPr/>
        </p:nvCxnSpPr>
        <p:spPr>
          <a:xfrm>
            <a:off x="149723" y="6572250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0CFB190-05D4-1515-165F-EA0A98EF6A15}"/>
              </a:ext>
            </a:extLst>
          </p:cNvPr>
          <p:cNvCxnSpPr>
            <a:cxnSpLocks/>
          </p:cNvCxnSpPr>
          <p:nvPr/>
        </p:nvCxnSpPr>
        <p:spPr>
          <a:xfrm>
            <a:off x="149723" y="6630866"/>
            <a:ext cx="11916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8184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742</Words>
  <Application>Microsoft Office PowerPoint</Application>
  <PresentationFormat>Panorámica</PresentationFormat>
  <Paragraphs>181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Wingdings</vt:lpstr>
      <vt:lpstr>Tema de Office</vt:lpstr>
      <vt:lpstr>Presentación de PowerPoint</vt:lpstr>
      <vt:lpstr>Datos disponibles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Sanchez</dc:creator>
  <cp:lastModifiedBy>Adrian Quindimil Rengel</cp:lastModifiedBy>
  <cp:revision>13</cp:revision>
  <dcterms:created xsi:type="dcterms:W3CDTF">2026-03-04T12:22:27Z</dcterms:created>
  <dcterms:modified xsi:type="dcterms:W3CDTF">2026-03-04T22:47:22Z</dcterms:modified>
</cp:coreProperties>
</file>